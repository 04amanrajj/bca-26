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ExtraBold"/>
      <p:bold r:id="rId15"/>
      <p:boldItalic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Roboto Medium"/>
      <p:regular r:id="rId21"/>
      <p:bold r:id="rId22"/>
      <p:italic r:id="rId23"/>
      <p:boldItalic r:id="rId24"/>
    </p:embeddedFont>
    <p:embeddedFont>
      <p:font typeface="Roboto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emiBold-bold.fntdata"/><Relationship Id="rId25" Type="http://schemas.openxmlformats.org/officeDocument/2006/relationships/font" Target="fonts/RobotoSemiBold-regular.fntdata"/><Relationship Id="rId28" Type="http://schemas.openxmlformats.org/officeDocument/2006/relationships/font" Target="fonts/RobotoSemiBold-boldItalic.fntdata"/><Relationship Id="rId27" Type="http://schemas.openxmlformats.org/officeDocument/2006/relationships/font" Target="fonts/Roboto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ExtraBold-bold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ExtraBold-boldItalic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5a5430d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5a5430d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b6e9f845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b6e9f845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b5a5430d9_4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b5a5430d9_4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b5a5430d9_4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b5a5430d9_4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b5a5430d9_6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b5a5430d9_6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b5a5430d9_6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b5a5430d9_6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b5a5430d9_61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b5a5430d9_61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b5a5430d9_61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b5a5430d9_61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b5a5430d9_61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b5a5430d9_61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5a5430d9_9_0)">
  <p:cSld name="Generated (g3eb5a5430d9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3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571500" y="2286000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952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FINAL YEAR PROJECT PRESENTATION</a:t>
            </a:r>
            <a:endParaRPr b="0"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1524000"/>
            <a:ext cx="8001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4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Satyanaam-Food</a:t>
            </a:r>
            <a:endParaRPr b="0" sz="44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2476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D6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 Food Ordering Web Application</a:t>
            </a:r>
            <a:endParaRPr b="0" sz="1600">
              <a:solidFill>
                <a:srgbClr val="FFD6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571500" y="3619500"/>
            <a:ext cx="2286000" cy="952500"/>
            <a:chOff x="0" y="0"/>
            <a:chExt cx="2286000" cy="9525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SUBMITTED BY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Aman Raj</a:t>
              </a:r>
              <a:endParaRPr b="0" sz="14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BCA 6th Semester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3238500" y="3619500"/>
            <a:ext cx="2667000" cy="952500"/>
            <a:chOff x="0" y="0"/>
            <a:chExt cx="2667000" cy="9525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2667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0" y="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INSTITUTION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NIBM / MLSU</a:t>
              </a:r>
              <a:endParaRPr b="0" sz="14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Nathdwara, Rajasthan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6286500" y="3619500"/>
            <a:ext cx="2286000" cy="952500"/>
            <a:chOff x="0" y="0"/>
            <a:chExt cx="2286000" cy="9525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PROJECT GUIDE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Mr. Kailash Purbia</a:t>
              </a:r>
              <a:endParaRPr b="0" sz="14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BCA Department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5927825" y="944100"/>
            <a:ext cx="2493300" cy="2493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 title="Dropped Image.png"/>
          <p:cNvPicPr preferRelativeResize="0"/>
          <p:nvPr/>
        </p:nvPicPr>
        <p:blipFill rotWithShape="1">
          <a:blip r:embed="rId4">
            <a:alphaModFix/>
          </a:blip>
          <a:srcRect b="21930" l="20187" r="20976" t="0"/>
          <a:stretch/>
        </p:blipFill>
        <p:spPr>
          <a:xfrm>
            <a:off x="6209325" y="1270025"/>
            <a:ext cx="1930300" cy="18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Project Introduction &amp; Overview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571475" y="1524000"/>
            <a:ext cx="7810472" cy="2857500"/>
            <a:chOff x="571500" y="1524000"/>
            <a:chExt cx="4095900" cy="2857500"/>
          </a:xfrm>
        </p:grpSpPr>
        <p:sp>
          <p:nvSpPr>
            <p:cNvPr id="80" name="Google Shape;80;p15"/>
            <p:cNvSpPr/>
            <p:nvPr/>
          </p:nvSpPr>
          <p:spPr>
            <a:xfrm>
              <a:off x="571500" y="1524000"/>
              <a:ext cx="4095900" cy="2857500"/>
            </a:xfrm>
            <a:prstGeom prst="roundRect">
              <a:avLst>
                <a:gd fmla="val 5000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809625" y="1762125"/>
              <a:ext cx="3619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This project, </a:t>
              </a: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Satyanaam-Food</a:t>
              </a:r>
              <a:r>
                <a:rPr b="0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, is an independent, full-stack, responsive e-commerce web platform.</a:t>
              </a:r>
              <a:endParaRPr b="0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Its core aim is to create a </a:t>
              </a:r>
              <a:r>
                <a:rPr b="0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modern, high-performance</a:t>
              </a:r>
              <a:r>
                <a:rPr b="0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digital bridge between culinary providers and their clients.</a:t>
              </a:r>
              <a:endParaRPr b="0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 moves beyond simple static menus to offer a premium, tailored </a:t>
              </a:r>
              <a:r>
                <a:rPr b="0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digital ordering ecosystem</a:t>
              </a:r>
              <a:r>
                <a:rPr b="0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571500" y="4572000"/>
            <a:ext cx="7810650" cy="416052"/>
            <a:chOff x="571500" y="4572000"/>
            <a:chExt cx="7810650" cy="416052"/>
          </a:xfrm>
        </p:grpSpPr>
        <p:grpSp>
          <p:nvGrpSpPr>
            <p:cNvPr id="83" name="Google Shape;83;p15"/>
            <p:cNvGrpSpPr/>
            <p:nvPr/>
          </p:nvGrpSpPr>
          <p:grpSpPr>
            <a:xfrm>
              <a:off x="571500" y="4572000"/>
              <a:ext cx="2381250" cy="416052"/>
              <a:chOff x="0" y="0"/>
              <a:chExt cx="2381250" cy="416052"/>
            </a:xfrm>
          </p:grpSpPr>
          <p:sp>
            <p:nvSpPr>
              <p:cNvPr id="84" name="Google Shape;84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5"/>
              <p:cNvSpPr txBox="1"/>
              <p:nvPr/>
            </p:nvSpPr>
            <p:spPr>
              <a:xfrm>
                <a:off x="0" y="35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FFD6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devices</a:t>
                </a:r>
                <a:endParaRPr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47625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BDBDBD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Fully Responsive Design</a:t>
                </a:r>
                <a:endParaRPr b="0" sz="1100">
                  <a:solidFill>
                    <a:srgbClr val="BDBDBD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3048000" y="4572000"/>
              <a:ext cx="2381250" cy="416052"/>
              <a:chOff x="0" y="0"/>
              <a:chExt cx="2381250" cy="416052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0" y="35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FFD6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</a:t>
                </a:r>
                <a:endParaRPr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47625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BDBDBD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High Performance</a:t>
                </a:r>
                <a:endParaRPr b="0" sz="1100">
                  <a:solidFill>
                    <a:srgbClr val="BDBDBD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91" name="Google Shape;91;p15"/>
            <p:cNvGrpSpPr/>
            <p:nvPr/>
          </p:nvGrpSpPr>
          <p:grpSpPr>
            <a:xfrm>
              <a:off x="5524500" y="4572000"/>
              <a:ext cx="2857650" cy="416052"/>
              <a:chOff x="0" y="0"/>
              <a:chExt cx="2857650" cy="416052"/>
            </a:xfrm>
          </p:grpSpPr>
          <p:sp>
            <p:nvSpPr>
              <p:cNvPr id="92" name="Google Shape;92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5"/>
              <p:cNvSpPr txBox="1"/>
              <p:nvPr/>
            </p:nvSpPr>
            <p:spPr>
              <a:xfrm>
                <a:off x="0" y="35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FFD6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restaurant_menu</a:t>
                </a:r>
                <a:endParaRPr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476250" y="0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BDBDBD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Tailored Digital Ordering</a:t>
                </a:r>
                <a:endParaRPr b="0" sz="1100">
                  <a:solidFill>
                    <a:srgbClr val="BDBDBD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  <p:sp>
        <p:nvSpPr>
          <p:cNvPr id="95" name="Google Shape;95;p15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Problem</a:t>
            </a:r>
            <a:r>
              <a:rPr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?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71500" y="1524000"/>
            <a:ext cx="2476500" cy="2667000"/>
            <a:chOff x="571500" y="1524000"/>
            <a:chExt cx="2476500" cy="2667000"/>
          </a:xfrm>
        </p:grpSpPr>
        <p:sp>
          <p:nvSpPr>
            <p:cNvPr id="103" name="Google Shape;103;p16"/>
            <p:cNvSpPr/>
            <p:nvPr/>
          </p:nvSpPr>
          <p:spPr>
            <a:xfrm>
              <a:off x="57150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7620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phone_missed</a:t>
              </a:r>
              <a:endParaRPr sz="2380">
                <a:solidFill>
                  <a:srgbClr val="FFD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762000" y="2238375"/>
              <a:ext cx="2095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Human Errors &amp; Friction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Manual telephone bookings often result in miscommunication and preparation errors. Engaged lines lead to direct loss of potential business.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3333750" y="1524000"/>
            <a:ext cx="2476500" cy="2667000"/>
            <a:chOff x="3333750" y="1524000"/>
            <a:chExt cx="2476500" cy="2667000"/>
          </a:xfrm>
        </p:grpSpPr>
        <p:sp>
          <p:nvSpPr>
            <p:cNvPr id="107" name="Google Shape;107;p16"/>
            <p:cNvSpPr/>
            <p:nvPr/>
          </p:nvSpPr>
          <p:spPr>
            <a:xfrm>
              <a:off x="333375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DBDBD"/>
                </a:solidFill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352425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sync_problem</a:t>
              </a:r>
              <a:endParaRPr sz="2380">
                <a:solidFill>
                  <a:srgbClr val="FFD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3524250" y="2238375"/>
              <a:ext cx="2095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Sync Challenges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Legacy systems struggle with real-time menu synchronization. Outdated physical menus fail to reflect price changes or stock availability instantly.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6096000" y="1524000"/>
            <a:ext cx="2476500" cy="2667000"/>
            <a:chOff x="6096000" y="1524000"/>
            <a:chExt cx="2476500" cy="2667000"/>
          </a:xfrm>
        </p:grpSpPr>
        <p:sp>
          <p:nvSpPr>
            <p:cNvPr id="111" name="Google Shape;111;p16"/>
            <p:cNvSpPr/>
            <p:nvPr/>
          </p:nvSpPr>
          <p:spPr>
            <a:xfrm>
              <a:off x="609600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62865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380">
                <a:solidFill>
                  <a:srgbClr val="FFD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6286500" y="2238375"/>
              <a:ext cx="2095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Aggregator Drain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Third-party aggregators drain 15–30% in financial commissions. Restaurants lose direct customer contact and vital data control.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4" name="Google Shape;114;p16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</a:t>
            </a: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ech Stack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571500" y="1428750"/>
            <a:ext cx="8001000" cy="476400"/>
            <a:chOff x="571500" y="1428750"/>
            <a:chExt cx="8001000" cy="476400"/>
          </a:xfrm>
        </p:grpSpPr>
        <p:sp>
          <p:nvSpPr>
            <p:cNvPr id="122" name="Google Shape;122;p17"/>
            <p:cNvSpPr/>
            <p:nvPr/>
          </p:nvSpPr>
          <p:spPr>
            <a:xfrm>
              <a:off x="571500" y="1428750"/>
              <a:ext cx="1714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571500" y="1428750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2286000" y="1428750"/>
              <a:ext cx="26670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2286000" y="1428750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Technology Used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953000" y="1428750"/>
              <a:ext cx="3619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4953000" y="142875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Architectural Purpose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571500" y="1905000"/>
            <a:ext cx="8001000" cy="666900"/>
            <a:chOff x="571500" y="1905000"/>
            <a:chExt cx="8001000" cy="666900"/>
          </a:xfrm>
        </p:grpSpPr>
        <p:sp>
          <p:nvSpPr>
            <p:cNvPr id="129" name="Google Shape;129;p17"/>
            <p:cNvSpPr/>
            <p:nvPr/>
          </p:nvSpPr>
          <p:spPr>
            <a:xfrm>
              <a:off x="571500" y="190500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571500" y="190500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286000" y="190500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2286000" y="190500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HTML, CSS,</a:t>
              </a: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JS, Bootstrap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953000" y="190500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4953000" y="190500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Premium, zero-bloat, highly responsive SPA experience.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571500" y="2571750"/>
            <a:ext cx="8001000" cy="666900"/>
            <a:chOff x="571500" y="2571750"/>
            <a:chExt cx="8001000" cy="666900"/>
          </a:xfrm>
        </p:grpSpPr>
        <p:sp>
          <p:nvSpPr>
            <p:cNvPr id="136" name="Google Shape;136;p17"/>
            <p:cNvSpPr/>
            <p:nvPr/>
          </p:nvSpPr>
          <p:spPr>
            <a:xfrm>
              <a:off x="571500" y="257175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571500" y="257175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Backend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2286000" y="257175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2286000" y="257175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Node.js, Express.js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4953000" y="257175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4953000" y="257175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Event-driven, asynchronous REST API ecosystem.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571500" y="3238500"/>
            <a:ext cx="8001000" cy="666900"/>
            <a:chOff x="571500" y="3238500"/>
            <a:chExt cx="8001000" cy="666900"/>
          </a:xfrm>
        </p:grpSpPr>
        <p:sp>
          <p:nvSpPr>
            <p:cNvPr id="143" name="Google Shape;143;p17"/>
            <p:cNvSpPr/>
            <p:nvPr/>
          </p:nvSpPr>
          <p:spPr>
            <a:xfrm>
              <a:off x="571500" y="323850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571500" y="323850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Database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2286000" y="323850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2286000" y="323850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MongoDB Atlas, Mongoose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953000" y="323850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4953000" y="323850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Flexible, schema-validated NoSQL document architecture.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571500" y="3905250"/>
            <a:ext cx="8001000" cy="666900"/>
            <a:chOff x="571500" y="3905250"/>
            <a:chExt cx="8001000" cy="666900"/>
          </a:xfrm>
        </p:grpSpPr>
        <p:sp>
          <p:nvSpPr>
            <p:cNvPr id="150" name="Google Shape;150;p17"/>
            <p:cNvSpPr/>
            <p:nvPr/>
          </p:nvSpPr>
          <p:spPr>
            <a:xfrm>
              <a:off x="571500" y="390525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571500" y="390525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Caching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2286000" y="390525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2286000" y="390525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Redis (In-Memory Store)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953000" y="390525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4953000" y="390525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Low-latency catalog caching dropping response times below 50ms.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6" name="Google Shape;156;p17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System Architecture &amp; Workflow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571459" y="2286000"/>
            <a:ext cx="1325583" cy="1095525"/>
            <a:chOff x="571500" y="2286000"/>
            <a:chExt cx="1238400" cy="1095525"/>
          </a:xfrm>
        </p:grpSpPr>
        <p:sp>
          <p:nvSpPr>
            <p:cNvPr id="164" name="Google Shape;164;p18"/>
            <p:cNvSpPr/>
            <p:nvPr/>
          </p:nvSpPr>
          <p:spPr>
            <a:xfrm>
              <a:off x="571500" y="2286000"/>
              <a:ext cx="1238400" cy="762000"/>
            </a:xfrm>
            <a:prstGeom prst="roundRect">
              <a:avLst>
                <a:gd fmla="val 10000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571500" y="22860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br>
                <a:rPr b="1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Request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571500" y="30956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Vanilla JS / Axios</a:t>
              </a:r>
              <a:endParaRPr b="0" sz="10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012" y="2657475"/>
            <a:ext cx="4077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2900" y="2619375"/>
            <a:ext cx="1023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8"/>
          <p:cNvGrpSpPr/>
          <p:nvPr/>
        </p:nvGrpSpPr>
        <p:grpSpPr>
          <a:xfrm>
            <a:off x="2406660" y="2286000"/>
            <a:ext cx="1325583" cy="1095525"/>
            <a:chOff x="2286000" y="2286000"/>
            <a:chExt cx="1238400" cy="1095525"/>
          </a:xfrm>
        </p:grpSpPr>
        <p:sp>
          <p:nvSpPr>
            <p:cNvPr id="170" name="Google Shape;170;p18"/>
            <p:cNvSpPr/>
            <p:nvPr/>
          </p:nvSpPr>
          <p:spPr>
            <a:xfrm>
              <a:off x="2286000" y="2286000"/>
              <a:ext cx="1238400" cy="762000"/>
            </a:xfrm>
            <a:prstGeom prst="roundRect">
              <a:avLst>
                <a:gd fmla="val 10000" name="adj"/>
              </a:avLst>
            </a:prstGeom>
            <a:solidFill>
              <a:srgbClr val="2D2D20"/>
            </a:solidFill>
            <a:ln cap="flat" cmpd="sng" w="9525">
              <a:solidFill>
                <a:srgbClr val="FFD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2286000" y="22860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Express</a:t>
              </a:r>
              <a:br>
                <a:rPr b="1" lang="en-GB" sz="12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Routing</a:t>
              </a:r>
              <a:endParaRPr b="1" sz="12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2286000" y="30956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Node.js Server</a:t>
              </a:r>
              <a:endParaRPr b="0" sz="10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2336" y="2657475"/>
            <a:ext cx="4077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223" y="2619375"/>
            <a:ext cx="1023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8"/>
          <p:cNvGrpSpPr/>
          <p:nvPr/>
        </p:nvGrpSpPr>
        <p:grpSpPr>
          <a:xfrm>
            <a:off x="4282643" y="2281238"/>
            <a:ext cx="1244019" cy="771600"/>
            <a:chOff x="4038600" y="2281238"/>
            <a:chExt cx="1162200" cy="771600"/>
          </a:xfrm>
        </p:grpSpPr>
        <p:pic>
          <p:nvPicPr>
            <p:cNvPr id="176" name="Google Shape;17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38600" y="2281238"/>
              <a:ext cx="1162200" cy="7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8"/>
            <p:cNvSpPr txBox="1"/>
            <p:nvPr/>
          </p:nvSpPr>
          <p:spPr>
            <a:xfrm>
              <a:off x="4048125" y="2381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Redis Cache</a:t>
              </a:r>
              <a:b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Check?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4708" y="1704975"/>
            <a:ext cx="11826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5510" y="1666875"/>
            <a:ext cx="1023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4955885" y="1476375"/>
            <a:ext cx="10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rPr>
              <a:t>YES (HIT)</a:t>
            </a:r>
            <a:endParaRPr b="1" sz="9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" name="Google Shape;181;p18"/>
          <p:cNvGrpSpPr/>
          <p:nvPr/>
        </p:nvGrpSpPr>
        <p:grpSpPr>
          <a:xfrm>
            <a:off x="6179017" y="1333500"/>
            <a:ext cx="1631290" cy="762000"/>
            <a:chOff x="5810250" y="1333500"/>
            <a:chExt cx="1524000" cy="762000"/>
          </a:xfrm>
        </p:grpSpPr>
        <p:sp>
          <p:nvSpPr>
            <p:cNvPr id="182" name="Google Shape;182;p18"/>
            <p:cNvSpPr/>
            <p:nvPr/>
          </p:nvSpPr>
          <p:spPr>
            <a:xfrm>
              <a:off x="5810250" y="133350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1B3320"/>
            </a:solidFill>
            <a:ln cap="flat" cmpd="sng" w="9525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5810250" y="1333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81C784"/>
                  </a:solidFill>
                  <a:latin typeface="Roboto"/>
                  <a:ea typeface="Roboto"/>
                  <a:cs typeface="Roboto"/>
                  <a:sym typeface="Roboto"/>
                </a:rPr>
                <a:t>Serve</a:t>
              </a:r>
              <a:br>
                <a:rPr b="1" lang="en-GB" sz="1200">
                  <a:solidFill>
                    <a:srgbClr val="81C784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81C784"/>
                  </a:solidFill>
                  <a:latin typeface="Roboto"/>
                  <a:ea typeface="Roboto"/>
                  <a:cs typeface="Roboto"/>
                  <a:sym typeface="Roboto"/>
                </a:rPr>
                <a:t>Immediately</a:t>
              </a:r>
              <a:endParaRPr b="1" sz="12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84" name="Google Shape;18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4708" y="3048000"/>
            <a:ext cx="11826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75510" y="3571875"/>
            <a:ext cx="1023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4955885" y="3667125"/>
            <a:ext cx="10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rPr>
              <a:t>NO (MISS)</a:t>
            </a:r>
            <a:endParaRPr b="1" sz="900">
              <a:solidFill>
                <a:srgbClr val="F443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18"/>
          <p:cNvGrpSpPr/>
          <p:nvPr/>
        </p:nvGrpSpPr>
        <p:grpSpPr>
          <a:xfrm>
            <a:off x="6179017" y="3238500"/>
            <a:ext cx="1631290" cy="762000"/>
            <a:chOff x="5810250" y="3238500"/>
            <a:chExt cx="1524000" cy="762000"/>
          </a:xfrm>
        </p:grpSpPr>
        <p:sp>
          <p:nvSpPr>
            <p:cNvPr id="188" name="Google Shape;188;p18"/>
            <p:cNvSpPr/>
            <p:nvPr/>
          </p:nvSpPr>
          <p:spPr>
            <a:xfrm>
              <a:off x="5810250" y="323850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331B1B"/>
            </a:solidFill>
            <a:ln cap="flat" cmpd="sng" w="952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5810250" y="3238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E57373"/>
                  </a:solidFill>
                  <a:latin typeface="Roboto"/>
                  <a:ea typeface="Roboto"/>
                  <a:cs typeface="Roboto"/>
                  <a:sym typeface="Roboto"/>
                </a:rPr>
                <a:t>Fetch from</a:t>
              </a:r>
              <a:br>
                <a:rPr b="1" lang="en-GB" sz="1200">
                  <a:solidFill>
                    <a:srgbClr val="E5737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E57373"/>
                  </a:solidFill>
                  <a:latin typeface="Roboto"/>
                  <a:ea typeface="Roboto"/>
                  <a:cs typeface="Roboto"/>
                  <a:sym typeface="Roboto"/>
                </a:rPr>
                <a:t>MongoDB</a:t>
              </a:r>
              <a:endParaRPr b="1" sz="1200">
                <a:solidFill>
                  <a:srgbClr val="E5737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90" name="Google Shape;19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834" y="2847975"/>
            <a:ext cx="5202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10834" y="2809875"/>
            <a:ext cx="1023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8"/>
          <p:cNvGrpSpPr/>
          <p:nvPr/>
        </p:nvGrpSpPr>
        <p:grpSpPr>
          <a:xfrm>
            <a:off x="6275875" y="2566988"/>
            <a:ext cx="1437654" cy="581100"/>
            <a:chOff x="5900738" y="2566988"/>
            <a:chExt cx="1343100" cy="581100"/>
          </a:xfrm>
        </p:grpSpPr>
        <p:pic>
          <p:nvPicPr>
            <p:cNvPr id="193" name="Google Shape;193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00738" y="2566988"/>
              <a:ext cx="13431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8"/>
            <p:cNvSpPr txBox="1"/>
            <p:nvPr/>
          </p:nvSpPr>
          <p:spPr>
            <a:xfrm>
              <a:off x="5905500" y="257175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Populate Redis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5" name="Google Shape;195;p18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Database Schema &amp; Security</a:t>
            </a:r>
            <a:endParaRPr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203" name="Google Shape;203;p19"/>
          <p:cNvGrpSpPr/>
          <p:nvPr/>
        </p:nvGrpSpPr>
        <p:grpSpPr>
          <a:xfrm>
            <a:off x="571500" y="1333500"/>
            <a:ext cx="3905400" cy="3095700"/>
            <a:chOff x="571500" y="1333500"/>
            <a:chExt cx="3905400" cy="3095700"/>
          </a:xfrm>
        </p:grpSpPr>
        <p:sp>
          <p:nvSpPr>
            <p:cNvPr id="204" name="Google Shape;204;p19"/>
            <p:cNvSpPr txBox="1"/>
            <p:nvPr/>
          </p:nvSpPr>
          <p:spPr>
            <a:xfrm>
              <a:off x="571500" y="1333500"/>
              <a:ext cx="390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en-GB" sz="18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 Core Mongoose Collections</a:t>
              </a:r>
              <a:endParaRPr b="1" sz="18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571500" y="1809750"/>
              <a:ext cx="3905400" cy="809700"/>
            </a:xfrm>
            <a:prstGeom prst="roundRect">
              <a:avLst>
                <a:gd fmla="val 9411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14375" y="1857375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Unique email indexing, bcrypt hashed credentials, and RBAC (User/Admin roles).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571500" y="2714625"/>
              <a:ext cx="3905400" cy="809700"/>
            </a:xfrm>
            <a:prstGeom prst="roundRect">
              <a:avLst>
                <a:gd fmla="val 9411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14375" y="2762250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Menus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Optimized for high-read performance with category filtering and visual image mapping.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571500" y="3619500"/>
              <a:ext cx="3905400" cy="809700"/>
            </a:xfrm>
            <a:prstGeom prst="roundRect">
              <a:avLst>
                <a:gd fmla="val 9411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714375" y="3667125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Orders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Transactional documents linking users, items, and real-time fulfillment status.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1" name="Google Shape;211;p19"/>
          <p:cNvGrpSpPr/>
          <p:nvPr/>
        </p:nvGrpSpPr>
        <p:grpSpPr>
          <a:xfrm>
            <a:off x="4857750" y="1333500"/>
            <a:ext cx="3714900" cy="3095550"/>
            <a:chOff x="4857750" y="1333500"/>
            <a:chExt cx="3714900" cy="3095550"/>
          </a:xfrm>
        </p:grpSpPr>
        <p:sp>
          <p:nvSpPr>
            <p:cNvPr id="212" name="Google Shape;212;p19"/>
            <p:cNvSpPr txBox="1"/>
            <p:nvPr/>
          </p:nvSpPr>
          <p:spPr>
            <a:xfrm>
              <a:off x="4857750" y="1333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r>
                <a:rPr b="1" lang="en-GB" sz="18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 Security Protocols</a:t>
              </a:r>
              <a:endParaRPr b="1" sz="18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4857750" y="1809750"/>
              <a:ext cx="3714900" cy="2619300"/>
            </a:xfrm>
            <a:prstGeom prst="roundRect">
              <a:avLst>
                <a:gd fmla="val 2909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5048250" y="2000250"/>
              <a:ext cx="33339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Data Protection</a:t>
              </a:r>
              <a:endParaRPr b="1" sz="11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Bcrypt algorithm for robust salted password hashing, preventing plain-text exposure.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Stateless Auth (JWT)</a:t>
              </a:r>
              <a:endParaRPr b="1" sz="11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Secure token-based session management eliminating server-side memory overhead.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Threat Mitigation</a:t>
              </a:r>
              <a:endParaRPr b="1" sz="11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Rate-limiting middleware and schema-level input sanitization to block DDoS and Injection attacks.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5" name="Google Shape;215;p19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3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Live Demo: </a:t>
            </a:r>
            <a:r>
              <a:rPr b="0" lang="en-GB" sz="333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Core Features Walkthrough</a:t>
            </a:r>
            <a:endParaRPr b="0" sz="333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571500" y="1428750"/>
            <a:ext cx="3905400" cy="2952900"/>
            <a:chOff x="0" y="0"/>
            <a:chExt cx="3905400" cy="2952900"/>
          </a:xfrm>
        </p:grpSpPr>
        <p:pic>
          <p:nvPicPr>
            <p:cNvPr id="224" name="Google Shape;22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905400" cy="29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0" title="Screenshot from 2026-05-23 14-41-43.png"/>
            <p:cNvPicPr preferRelativeResize="0"/>
            <p:nvPr/>
          </p:nvPicPr>
          <p:blipFill rotWithShape="1">
            <a:blip r:embed="rId4">
              <a:alphaModFix/>
            </a:blip>
            <a:srcRect b="2299" l="0" r="0" t="2308"/>
            <a:stretch/>
          </p:blipFill>
          <p:spPr>
            <a:xfrm>
              <a:off x="0" y="0"/>
              <a:ext cx="3905400" cy="2095500"/>
            </a:xfrm>
            <a:prstGeom prst="roundRect">
              <a:avLst>
                <a:gd fmla="val 5454" name="adj"/>
              </a:avLst>
            </a:prstGeom>
            <a:noFill/>
            <a:ln>
              <a:noFill/>
            </a:ln>
          </p:spPr>
        </p:pic>
        <p:sp>
          <p:nvSpPr>
            <p:cNvPr id="226" name="Google Shape;226;p20"/>
            <p:cNvSpPr txBox="1"/>
            <p:nvPr/>
          </p:nvSpPr>
          <p:spPr>
            <a:xfrm>
              <a:off x="190500" y="2238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Customer Experience</a:t>
              </a:r>
              <a:endParaRPr b="1" sz="7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Dynamic Ordering SPA</a:t>
              </a:r>
              <a:endParaRPr b="1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Single-page interface with instant cart updates and secure checkout summary.</a:t>
              </a:r>
              <a:endParaRPr b="0" sz="7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4667250" y="1428750"/>
            <a:ext cx="3905400" cy="2952900"/>
            <a:chOff x="0" y="0"/>
            <a:chExt cx="3905400" cy="2952900"/>
          </a:xfrm>
        </p:grpSpPr>
        <p:pic>
          <p:nvPicPr>
            <p:cNvPr id="228" name="Google Shape;22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905400" cy="29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0" title="Screenshot from 2026-05-23 17-30-44.png"/>
            <p:cNvPicPr preferRelativeResize="0"/>
            <p:nvPr/>
          </p:nvPicPr>
          <p:blipFill rotWithShape="1">
            <a:blip r:embed="rId5">
              <a:alphaModFix/>
            </a:blip>
            <a:srcRect b="2299" l="0" r="0" t="2308"/>
            <a:stretch/>
          </p:blipFill>
          <p:spPr>
            <a:xfrm>
              <a:off x="0" y="0"/>
              <a:ext cx="3905400" cy="2095500"/>
            </a:xfrm>
            <a:prstGeom prst="roundRect">
              <a:avLst>
                <a:gd fmla="val 5454" name="adj"/>
              </a:avLst>
            </a:prstGeom>
            <a:noFill/>
            <a:ln>
              <a:noFill/>
            </a:ln>
          </p:spPr>
        </p:pic>
        <p:sp>
          <p:nvSpPr>
            <p:cNvPr id="230" name="Google Shape;230;p20"/>
            <p:cNvSpPr txBox="1"/>
            <p:nvPr/>
          </p:nvSpPr>
          <p:spPr>
            <a:xfrm>
              <a:off x="190500" y="2238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Admin Control</a:t>
              </a:r>
              <a:endParaRPr b="1" sz="7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Operational Dashboard</a:t>
              </a:r>
              <a:endParaRPr b="1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Real-time fulfillment tracking (Pending ➔ Preparing ➔ Delivered) and CRUD menu management.</a:t>
              </a:r>
              <a:endParaRPr b="0" sz="7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1" name="Google Shape;231;p20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Software Testing Strategy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238" name="Google Shape;238;p21"/>
          <p:cNvGrpSpPr/>
          <p:nvPr/>
        </p:nvGrpSpPr>
        <p:grpSpPr>
          <a:xfrm>
            <a:off x="571500" y="1428750"/>
            <a:ext cx="8001000" cy="476400"/>
            <a:chOff x="571500" y="1428750"/>
            <a:chExt cx="8001000" cy="476400"/>
          </a:xfrm>
        </p:grpSpPr>
        <p:sp>
          <p:nvSpPr>
            <p:cNvPr id="239" name="Google Shape;239;p21"/>
            <p:cNvSpPr/>
            <p:nvPr/>
          </p:nvSpPr>
          <p:spPr>
            <a:xfrm>
              <a:off x="571500" y="1428750"/>
              <a:ext cx="2095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571500" y="1428750"/>
              <a:ext cx="2095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Testing Methodology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2667000" y="1428750"/>
              <a:ext cx="5905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667000" y="1428750"/>
              <a:ext cx="5905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Execution Details &amp; Verification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571500" y="1905000"/>
            <a:ext cx="8001000" cy="809700"/>
            <a:chOff x="571500" y="1905000"/>
            <a:chExt cx="8001000" cy="809700"/>
          </a:xfrm>
        </p:grpSpPr>
        <p:sp>
          <p:nvSpPr>
            <p:cNvPr id="244" name="Google Shape;244;p21"/>
            <p:cNvSpPr/>
            <p:nvPr/>
          </p:nvSpPr>
          <p:spPr>
            <a:xfrm>
              <a:off x="571500" y="1905000"/>
              <a:ext cx="2095500" cy="8097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571500" y="1905000"/>
              <a:ext cx="209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Unit Testing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667000" y="190500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2667000" y="190500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Validating JWT middleware parsing.</a:t>
              </a: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 Verifying that back-end utility functions and Express middlewares reject invalid tokens while correctly passing valid requests to controllers.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8" name="Google Shape;248;p21"/>
          <p:cNvGrpSpPr/>
          <p:nvPr/>
        </p:nvGrpSpPr>
        <p:grpSpPr>
          <a:xfrm>
            <a:off x="571500" y="2714625"/>
            <a:ext cx="8001000" cy="809700"/>
            <a:chOff x="571500" y="2714625"/>
            <a:chExt cx="8001000" cy="809700"/>
          </a:xfrm>
        </p:grpSpPr>
        <p:sp>
          <p:nvSpPr>
            <p:cNvPr id="249" name="Google Shape;249;p21"/>
            <p:cNvSpPr/>
            <p:nvPr/>
          </p:nvSpPr>
          <p:spPr>
            <a:xfrm>
              <a:off x="571500" y="2714625"/>
              <a:ext cx="2095500" cy="8097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571500" y="2714625"/>
              <a:ext cx="209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White Box Testing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2667000" y="2714625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2667000" y="2714625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Executing automated Postman routes to test API edge cases independently.</a:t>
              </a: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 Simulating internal data flow by sending raw POST/GET/PUT/DELETE requests to verify price validation, MongoDB insertions, and Redis caching algorithms.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" name="Google Shape;253;p21"/>
          <p:cNvGrpSpPr/>
          <p:nvPr/>
        </p:nvGrpSpPr>
        <p:grpSpPr>
          <a:xfrm>
            <a:off x="571500" y="3524250"/>
            <a:ext cx="8001000" cy="809700"/>
            <a:chOff x="571500" y="3524250"/>
            <a:chExt cx="8001000" cy="809700"/>
          </a:xfrm>
        </p:grpSpPr>
        <p:sp>
          <p:nvSpPr>
            <p:cNvPr id="254" name="Google Shape;254;p21"/>
            <p:cNvSpPr/>
            <p:nvPr/>
          </p:nvSpPr>
          <p:spPr>
            <a:xfrm>
              <a:off x="571500" y="3524250"/>
              <a:ext cx="2095500" cy="8097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571500" y="3524250"/>
              <a:ext cx="209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Black Box Testing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2667000" y="352425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2667000" y="352425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Simulating end-to-end integration workflows directly via the browser interface.</a:t>
              </a: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 Manual verification of critical scenarios like user authentication, cart persistency, and the full checkout lifecycle with automated email triggers.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8" name="Google Shape;258;p21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Future Scope &amp; Conclusion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265" name="Google Shape;265;p22"/>
          <p:cNvGrpSpPr/>
          <p:nvPr/>
        </p:nvGrpSpPr>
        <p:grpSpPr>
          <a:xfrm>
            <a:off x="571500" y="1524000"/>
            <a:ext cx="4095900" cy="2857500"/>
            <a:chOff x="571500" y="1524000"/>
            <a:chExt cx="4095900" cy="2857500"/>
          </a:xfrm>
        </p:grpSpPr>
        <p:sp>
          <p:nvSpPr>
            <p:cNvPr id="266" name="Google Shape;266;p22"/>
            <p:cNvSpPr/>
            <p:nvPr/>
          </p:nvSpPr>
          <p:spPr>
            <a:xfrm>
              <a:off x="571500" y="1524000"/>
              <a:ext cx="4095900" cy="2857500"/>
            </a:xfrm>
            <a:prstGeom prst="roundRect">
              <a:avLst>
                <a:gd fmla="val 2666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762000" y="1714500"/>
              <a:ext cx="3714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Future Architecture Expansions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Secure Payment Gateway Integration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Stripe, Razorpay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Real-time Tracking via WebSockets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Socket.io integration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AI-Driven Recommendations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Personalized food suggestions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Native Mobile Application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React Native / Flutter expansion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8" name="Google Shape;268;p22"/>
          <p:cNvGrpSpPr/>
          <p:nvPr/>
        </p:nvGrpSpPr>
        <p:grpSpPr>
          <a:xfrm>
            <a:off x="4857750" y="1524000"/>
            <a:ext cx="3714900" cy="2857500"/>
            <a:chOff x="4857750" y="1524000"/>
            <a:chExt cx="3714900" cy="2857500"/>
          </a:xfrm>
        </p:grpSpPr>
        <p:sp>
          <p:nvSpPr>
            <p:cNvPr id="269" name="Google Shape;269;p22"/>
            <p:cNvSpPr/>
            <p:nvPr/>
          </p:nvSpPr>
          <p:spPr>
            <a:xfrm>
              <a:off x="4857750" y="1524000"/>
              <a:ext cx="3714900" cy="2857500"/>
            </a:xfrm>
            <a:prstGeom prst="roundRect">
              <a:avLst>
                <a:gd fmla="val 2666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 txBox="1"/>
            <p:nvPr/>
          </p:nvSpPr>
          <p:spPr>
            <a:xfrm>
              <a:off x="5048250" y="1714500"/>
              <a:ext cx="3333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Conclusion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The "Satyanaam-Food" platform successfully bridges the gap between culinary providers and clientele through a robust, scalable MERN-style architecture.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By implementing Redis caching and JWT authentication, the system achieves sub-50ms latency and stateless session security.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Ultimately, it provides a commission-free, tailored digital ordering ecosystem for independent restaurants.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1" name="Google Shape;271;p22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