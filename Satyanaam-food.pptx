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ExtraBold"/>
      <p:bold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Roboto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RobotoSemiBold-italic.fntdata"/><Relationship Id="rId10" Type="http://schemas.openxmlformats.org/officeDocument/2006/relationships/slide" Target="slides/slide5.xml"/><Relationship Id="rId21" Type="http://schemas.openxmlformats.org/officeDocument/2006/relationships/font" Target="fonts/Roboto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ExtraBold-boldItalic.fntdata"/><Relationship Id="rId14" Type="http://schemas.openxmlformats.org/officeDocument/2006/relationships/font" Target="fonts/RobotoExtraBold-bold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5a5430d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5a5430d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b5a5430d9_4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b5a5430d9_4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a5430d9_4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a5430d9_4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b5a5430d9_6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b5a5430d9_6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b5a5430d9_6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b5a5430d9_6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b5a5430d9_61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b5a5430d9_6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b5a5430d9_61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b5a5430d9_6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5a5430d9_61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b5a5430d9_61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5a5430d9_9_0)">
  <p:cSld name="Generated (g3eb5a5430d9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05250"/>
            <a:ext cx="9144000" cy="1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571500" y="2286000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FINAL YEAR PROJECT PRESENTATION</a:t>
            </a:r>
            <a:endParaRPr b="0" sz="18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1524000"/>
            <a:ext cx="8001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4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Satyanaam-Food</a:t>
            </a:r>
            <a:endParaRPr b="0" sz="44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2476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D600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 Food Ordering Web Application</a:t>
            </a:r>
            <a:endParaRPr b="0" sz="1600">
              <a:solidFill>
                <a:srgbClr val="FFD600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571500" y="3619500"/>
            <a:ext cx="2286000" cy="952500"/>
            <a:chOff x="0" y="0"/>
            <a:chExt cx="2286000" cy="9525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SUBMITTED BY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Aman Raj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BCA 6th Semester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3238500" y="3619500"/>
            <a:ext cx="2667000" cy="952500"/>
            <a:chOff x="0" y="0"/>
            <a:chExt cx="2667000" cy="9525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667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INSTITUTION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NIBM / MLSU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Nathdwara, Rajasthan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6286500" y="3619500"/>
            <a:ext cx="2286000" cy="952500"/>
            <a:chOff x="0" y="0"/>
            <a:chExt cx="2286000" cy="9525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PROJECT GUIDE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FFFFFF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Mr. Kailash Purbia</a:t>
              </a:r>
              <a:endParaRPr b="0" sz="14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BCA Department</a:t>
              </a:r>
              <a:endParaRPr b="0" sz="12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927825" y="944100"/>
            <a:ext cx="2493300" cy="24933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 title="Dropped Image.png"/>
          <p:cNvPicPr preferRelativeResize="0"/>
          <p:nvPr/>
        </p:nvPicPr>
        <p:blipFill rotWithShape="1">
          <a:blip r:embed="rId4">
            <a:alphaModFix/>
          </a:blip>
          <a:srcRect b="21930" l="20187" r="20976" t="0"/>
          <a:stretch/>
        </p:blipFill>
        <p:spPr>
          <a:xfrm>
            <a:off x="6209325" y="1270025"/>
            <a:ext cx="1930300" cy="18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Problem</a:t>
            </a:r>
            <a:r>
              <a:rPr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?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571500" y="1524000"/>
            <a:ext cx="2476500" cy="2667000"/>
            <a:chOff x="571500" y="1524000"/>
            <a:chExt cx="2476500" cy="2667000"/>
          </a:xfrm>
        </p:grpSpPr>
        <p:sp>
          <p:nvSpPr>
            <p:cNvPr id="79" name="Google Shape;79;p15"/>
            <p:cNvSpPr/>
            <p:nvPr/>
          </p:nvSpPr>
          <p:spPr>
            <a:xfrm>
              <a:off x="57150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99999"/>
                </a:solidFill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7620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phone_missed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76200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Human Errors &amp; Friction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Manual telephone bookings often result in miscommunication and preparation errors. Engaged lines lead to direct loss of potential business.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3333750" y="1524000"/>
            <a:ext cx="2476500" cy="2667000"/>
            <a:chOff x="3333750" y="1524000"/>
            <a:chExt cx="2476500" cy="2667000"/>
          </a:xfrm>
        </p:grpSpPr>
        <p:sp>
          <p:nvSpPr>
            <p:cNvPr id="83" name="Google Shape;83;p15"/>
            <p:cNvSpPr/>
            <p:nvPr/>
          </p:nvSpPr>
          <p:spPr>
            <a:xfrm>
              <a:off x="333375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BDBDBD"/>
                </a:solidFill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352425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sync_problem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352425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Sync Challenges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Legacy systems struggle with real-time menu synchronization. Outdated physical menus fail to reflect price changes or stock availability instantly.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6096000" y="1524000"/>
            <a:ext cx="2476500" cy="2667000"/>
            <a:chOff x="6096000" y="1524000"/>
            <a:chExt cx="2476500" cy="2667000"/>
          </a:xfrm>
        </p:grpSpPr>
        <p:sp>
          <p:nvSpPr>
            <p:cNvPr id="87" name="Google Shape;87;p15"/>
            <p:cNvSpPr/>
            <p:nvPr/>
          </p:nvSpPr>
          <p:spPr>
            <a:xfrm>
              <a:off x="609600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62865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380">
                <a:solidFill>
                  <a:srgbClr val="FFD6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6286500" y="2238375"/>
              <a:ext cx="2095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Aggregator Drain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Third-party aggregators drain 15–30% in financial commissions. Restaurants lose direct customer contact and vital data control.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" name="Google Shape;90;p15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</a:t>
            </a: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ech Stack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97" name="Google Shape;97;p16"/>
          <p:cNvGrpSpPr/>
          <p:nvPr/>
        </p:nvGrpSpPr>
        <p:grpSpPr>
          <a:xfrm>
            <a:off x="571500" y="1428750"/>
            <a:ext cx="8001000" cy="476400"/>
            <a:chOff x="571500" y="1428750"/>
            <a:chExt cx="8001000" cy="476400"/>
          </a:xfrm>
        </p:grpSpPr>
        <p:sp>
          <p:nvSpPr>
            <p:cNvPr id="98" name="Google Shape;98;p16"/>
            <p:cNvSpPr/>
            <p:nvPr/>
          </p:nvSpPr>
          <p:spPr>
            <a:xfrm>
              <a:off x="571500" y="1428750"/>
              <a:ext cx="1714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571500" y="1428750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Layer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286000" y="1428750"/>
              <a:ext cx="26670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2286000" y="1428750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Technology Used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953000" y="1428750"/>
              <a:ext cx="3619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4953000" y="142875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Architectural Purpose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571500" y="1905000"/>
            <a:ext cx="8001000" cy="666900"/>
            <a:chOff x="571500" y="1905000"/>
            <a:chExt cx="8001000" cy="666900"/>
          </a:xfrm>
        </p:grpSpPr>
        <p:sp>
          <p:nvSpPr>
            <p:cNvPr id="105" name="Google Shape;105;p16"/>
            <p:cNvSpPr/>
            <p:nvPr/>
          </p:nvSpPr>
          <p:spPr>
            <a:xfrm>
              <a:off x="571500" y="190500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571500" y="190500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Frontend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286000" y="190500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286000" y="190500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HTML, CSS,</a:t>
              </a: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JS, Bootstrap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4953000" y="190500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4953000" y="190500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Premium, zero-bloat, highly responsive SPA experience.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571500" y="2571750"/>
            <a:ext cx="8001000" cy="666900"/>
            <a:chOff x="571500" y="2571750"/>
            <a:chExt cx="8001000" cy="666900"/>
          </a:xfrm>
        </p:grpSpPr>
        <p:sp>
          <p:nvSpPr>
            <p:cNvPr id="112" name="Google Shape;112;p16"/>
            <p:cNvSpPr/>
            <p:nvPr/>
          </p:nvSpPr>
          <p:spPr>
            <a:xfrm>
              <a:off x="571500" y="257175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571500" y="257175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Backend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286000" y="257175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2286000" y="257175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Node.js, Express.js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4953000" y="25717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4953000" y="257175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Event-driven, asynchronous REST API ecosystem.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571500" y="3238500"/>
            <a:ext cx="8001000" cy="666900"/>
            <a:chOff x="571500" y="3238500"/>
            <a:chExt cx="8001000" cy="666900"/>
          </a:xfrm>
        </p:grpSpPr>
        <p:sp>
          <p:nvSpPr>
            <p:cNvPr id="119" name="Google Shape;119;p16"/>
            <p:cNvSpPr/>
            <p:nvPr/>
          </p:nvSpPr>
          <p:spPr>
            <a:xfrm>
              <a:off x="571500" y="323850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571500" y="323850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Database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2286000" y="323850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286000" y="323850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MongoDB Atlas, Mongoose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953000" y="323850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953000" y="323850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Flexible, schema-validated NoSQL document architecture.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571500" y="3905250"/>
            <a:ext cx="8001000" cy="666900"/>
            <a:chOff x="571500" y="3905250"/>
            <a:chExt cx="8001000" cy="666900"/>
          </a:xfrm>
        </p:grpSpPr>
        <p:sp>
          <p:nvSpPr>
            <p:cNvPr id="126" name="Google Shape;126;p16"/>
            <p:cNvSpPr/>
            <p:nvPr/>
          </p:nvSpPr>
          <p:spPr>
            <a:xfrm>
              <a:off x="571500" y="3905250"/>
              <a:ext cx="1714500" cy="6669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571500" y="3905250"/>
              <a:ext cx="1714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Caching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2286000" y="3905250"/>
              <a:ext cx="2667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2286000" y="390525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Redis (In-Memory Store)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4953000" y="39052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953000" y="3905250"/>
              <a:ext cx="3619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Low-latency catalog caching dropping response times below 50ms.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2" name="Google Shape;132;p16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System Architecture &amp; Workflow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71459" y="2286000"/>
            <a:ext cx="1325583" cy="1095525"/>
            <a:chOff x="571500" y="2286000"/>
            <a:chExt cx="1238400" cy="1095525"/>
          </a:xfrm>
        </p:grpSpPr>
        <p:sp>
          <p:nvSpPr>
            <p:cNvPr id="140" name="Google Shape;140;p17"/>
            <p:cNvSpPr/>
            <p:nvPr/>
          </p:nvSpPr>
          <p:spPr>
            <a:xfrm>
              <a:off x="571500" y="2286000"/>
              <a:ext cx="1238400" cy="762000"/>
            </a:xfrm>
            <a:prstGeom prst="roundRect">
              <a:avLst>
                <a:gd fmla="val 10000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571500" y="22860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Client</a:t>
              </a:r>
              <a:b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Request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571500" y="30956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Vanilla JS / Axios</a:t>
              </a:r>
              <a:endParaRPr b="0" sz="10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012" y="2657475"/>
            <a:ext cx="4077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2900" y="26193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7"/>
          <p:cNvGrpSpPr/>
          <p:nvPr/>
        </p:nvGrpSpPr>
        <p:grpSpPr>
          <a:xfrm>
            <a:off x="2406660" y="2286000"/>
            <a:ext cx="1325583" cy="1095525"/>
            <a:chOff x="2286000" y="2286000"/>
            <a:chExt cx="1238400" cy="1095525"/>
          </a:xfrm>
        </p:grpSpPr>
        <p:sp>
          <p:nvSpPr>
            <p:cNvPr id="146" name="Google Shape;146;p17"/>
            <p:cNvSpPr/>
            <p:nvPr/>
          </p:nvSpPr>
          <p:spPr>
            <a:xfrm>
              <a:off x="2286000" y="2286000"/>
              <a:ext cx="1238400" cy="762000"/>
            </a:xfrm>
            <a:prstGeom prst="roundRect">
              <a:avLst>
                <a:gd fmla="val 10000" name="adj"/>
              </a:avLst>
            </a:prstGeom>
            <a:solidFill>
              <a:srgbClr val="2D2D20"/>
            </a:solidFill>
            <a:ln cap="flat" cmpd="sng" w="9525">
              <a:solidFill>
                <a:srgbClr val="FFD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286000" y="228600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Express</a:t>
              </a:r>
              <a:b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Routing</a:t>
              </a:r>
              <a:endParaRPr b="1" sz="12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286000" y="30956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Node.js Server</a:t>
              </a:r>
              <a:endParaRPr b="0" sz="10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336" y="2657475"/>
            <a:ext cx="4077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223" y="26193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7"/>
          <p:cNvGrpSpPr/>
          <p:nvPr/>
        </p:nvGrpSpPr>
        <p:grpSpPr>
          <a:xfrm>
            <a:off x="4282643" y="2281238"/>
            <a:ext cx="1244019" cy="771600"/>
            <a:chOff x="4038600" y="2281238"/>
            <a:chExt cx="1162200" cy="771600"/>
          </a:xfrm>
        </p:grpSpPr>
        <p:pic>
          <p:nvPicPr>
            <p:cNvPr id="152" name="Google Shape;15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38600" y="2281238"/>
              <a:ext cx="1162200" cy="7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7"/>
            <p:cNvSpPr txBox="1"/>
            <p:nvPr/>
          </p:nvSpPr>
          <p:spPr>
            <a:xfrm>
              <a:off x="4048125" y="2381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Redis Cache</a:t>
              </a:r>
              <a:b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Check?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4708" y="1704975"/>
            <a:ext cx="11826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5510" y="1666875"/>
            <a:ext cx="1023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4955885" y="1476375"/>
            <a:ext cx="10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rPr>
              <a:t>YES (HIT)</a:t>
            </a:r>
            <a:endParaRPr b="1" sz="9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7" name="Google Shape;157;p17"/>
          <p:cNvGrpSpPr/>
          <p:nvPr/>
        </p:nvGrpSpPr>
        <p:grpSpPr>
          <a:xfrm>
            <a:off x="6179017" y="1333500"/>
            <a:ext cx="1631290" cy="762000"/>
            <a:chOff x="5810250" y="1333500"/>
            <a:chExt cx="1524000" cy="762000"/>
          </a:xfrm>
        </p:grpSpPr>
        <p:sp>
          <p:nvSpPr>
            <p:cNvPr id="158" name="Google Shape;158;p17"/>
            <p:cNvSpPr/>
            <p:nvPr/>
          </p:nvSpPr>
          <p:spPr>
            <a:xfrm>
              <a:off x="5810250" y="133350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1B3320"/>
            </a:solidFill>
            <a:ln cap="flat" cmpd="sng" w="9525">
              <a:solidFill>
                <a:srgbClr val="4C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5810250" y="1333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  <a:t>Serve</a:t>
              </a:r>
              <a:b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81C784"/>
                  </a:solidFill>
                  <a:latin typeface="Roboto"/>
                  <a:ea typeface="Roboto"/>
                  <a:cs typeface="Roboto"/>
                  <a:sym typeface="Roboto"/>
                </a:rPr>
                <a:t>Immediately</a:t>
              </a:r>
              <a:endParaRPr b="1" sz="1200">
                <a:solidFill>
                  <a:srgbClr val="81C78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0" name="Google Shape;1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4708" y="3048000"/>
            <a:ext cx="11826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75510" y="3571875"/>
            <a:ext cx="1023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955885" y="3667125"/>
            <a:ext cx="10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rPr>
              <a:t>NO (MISS)</a:t>
            </a:r>
            <a:endParaRPr b="1" sz="900">
              <a:solidFill>
                <a:srgbClr val="F443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3" name="Google Shape;163;p17"/>
          <p:cNvGrpSpPr/>
          <p:nvPr/>
        </p:nvGrpSpPr>
        <p:grpSpPr>
          <a:xfrm>
            <a:off x="6179017" y="3238500"/>
            <a:ext cx="1631290" cy="762000"/>
            <a:chOff x="5810250" y="3238500"/>
            <a:chExt cx="1524000" cy="762000"/>
          </a:xfrm>
        </p:grpSpPr>
        <p:sp>
          <p:nvSpPr>
            <p:cNvPr id="164" name="Google Shape;164;p17"/>
            <p:cNvSpPr/>
            <p:nvPr/>
          </p:nvSpPr>
          <p:spPr>
            <a:xfrm>
              <a:off x="5810250" y="3238500"/>
              <a:ext cx="1524000" cy="762000"/>
            </a:xfrm>
            <a:prstGeom prst="roundRect">
              <a:avLst>
                <a:gd fmla="val 10000" name="adj"/>
              </a:avLst>
            </a:prstGeom>
            <a:solidFill>
              <a:srgbClr val="331B1B"/>
            </a:solidFill>
            <a:ln cap="flat" cmpd="sng" w="9525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810250" y="3238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  <a:t>Fetch from</a:t>
              </a:r>
              <a:b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-GB" sz="1200">
                  <a:solidFill>
                    <a:srgbClr val="E57373"/>
                  </a:solidFill>
                  <a:latin typeface="Roboto"/>
                  <a:ea typeface="Roboto"/>
                  <a:cs typeface="Roboto"/>
                  <a:sym typeface="Roboto"/>
                </a:rPr>
                <a:t>MongoDB</a:t>
              </a:r>
              <a:endParaRPr b="1" sz="1200">
                <a:solidFill>
                  <a:srgbClr val="E5737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6" name="Google Shape;16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834" y="2847975"/>
            <a:ext cx="5202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10834" y="2809875"/>
            <a:ext cx="1023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7"/>
          <p:cNvGrpSpPr/>
          <p:nvPr/>
        </p:nvGrpSpPr>
        <p:grpSpPr>
          <a:xfrm>
            <a:off x="6275875" y="2566988"/>
            <a:ext cx="1437654" cy="581100"/>
            <a:chOff x="5900738" y="2566988"/>
            <a:chExt cx="1343100" cy="581100"/>
          </a:xfrm>
        </p:grpSpPr>
        <p:pic>
          <p:nvPicPr>
            <p:cNvPr id="169" name="Google Shape;169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00738" y="2566988"/>
              <a:ext cx="13431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7"/>
            <p:cNvSpPr txBox="1"/>
            <p:nvPr/>
          </p:nvSpPr>
          <p:spPr>
            <a:xfrm>
              <a:off x="5905500" y="257175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Populate Redis</a:t>
              </a:r>
              <a:endParaRPr b="1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1" name="Google Shape;171;p17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Database Schema &amp; Security</a:t>
            </a:r>
            <a:endParaRPr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571500" y="1333500"/>
            <a:ext cx="3905400" cy="3095700"/>
            <a:chOff x="571500" y="1333500"/>
            <a:chExt cx="3905400" cy="3095700"/>
          </a:xfrm>
        </p:grpSpPr>
        <p:sp>
          <p:nvSpPr>
            <p:cNvPr id="180" name="Google Shape;180;p18"/>
            <p:cNvSpPr txBox="1"/>
            <p:nvPr/>
          </p:nvSpPr>
          <p:spPr>
            <a:xfrm>
              <a:off x="571500" y="1333500"/>
              <a:ext cx="3905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en-GB" sz="18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 Core Mongoose Collections</a:t>
              </a:r>
              <a:endParaRPr b="1" sz="18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571500" y="1809750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714375" y="1857375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Unique email indexing, bcrypt hashed credentials, and RBAC (User/Admin roles).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571500" y="2714625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714375" y="2762250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Menus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Optimized for high-read performance with category filtering and visual image mapping.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571500" y="3619500"/>
              <a:ext cx="3905400" cy="809700"/>
            </a:xfrm>
            <a:prstGeom prst="roundRect">
              <a:avLst>
                <a:gd fmla="val 9411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714375" y="3667125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Orders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Transactional documents linking users, items, and real-time fulfillment status.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4857750" y="1333500"/>
            <a:ext cx="3714900" cy="3095550"/>
            <a:chOff x="4857750" y="1333500"/>
            <a:chExt cx="3714900" cy="3095550"/>
          </a:xfrm>
        </p:grpSpPr>
        <p:sp>
          <p:nvSpPr>
            <p:cNvPr id="188" name="Google Shape;188;p18"/>
            <p:cNvSpPr txBox="1"/>
            <p:nvPr/>
          </p:nvSpPr>
          <p:spPr>
            <a:xfrm>
              <a:off x="4857750" y="1333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FFD6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b="1" lang="en-GB" sz="18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 Security Protocols</a:t>
              </a:r>
              <a:endParaRPr b="1" sz="18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4857750" y="1809750"/>
              <a:ext cx="3714900" cy="2619300"/>
            </a:xfrm>
            <a:prstGeom prst="roundRect">
              <a:avLst>
                <a:gd fmla="val 2909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5048250" y="2000250"/>
              <a:ext cx="33339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Data Protection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Bcrypt algorithm for robust salted password hashing, preventing plain-text exposure.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Stateless Auth (JWT)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Secure token-based session management eliminating server-side memory overhead.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Threat Mitigation</a:t>
              </a:r>
              <a:endParaRPr b="1" sz="11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Rate-limiting middleware and schema-level input sanitization to block DDoS and Injection attacks.</a:t>
              </a:r>
              <a:endParaRPr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" name="Google Shape;191;p18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33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Live Demo: </a:t>
            </a:r>
            <a:r>
              <a:rPr b="0" lang="en-GB" sz="333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Core Features Walkthrough</a:t>
            </a:r>
            <a:endParaRPr b="0" sz="333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199" name="Google Shape;199;p19"/>
          <p:cNvGrpSpPr/>
          <p:nvPr/>
        </p:nvGrpSpPr>
        <p:grpSpPr>
          <a:xfrm>
            <a:off x="571500" y="1428750"/>
            <a:ext cx="3905400" cy="2952900"/>
            <a:chOff x="0" y="0"/>
            <a:chExt cx="3905400" cy="2952900"/>
          </a:xfrm>
        </p:grpSpPr>
        <p:pic>
          <p:nvPicPr>
            <p:cNvPr id="200" name="Google Shape;20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19" title="Screenshot from 2026-05-23 14-41-43.png"/>
            <p:cNvPicPr preferRelativeResize="0"/>
            <p:nvPr/>
          </p:nvPicPr>
          <p:blipFill rotWithShape="1">
            <a:blip r:embed="rId4">
              <a:alphaModFix/>
            </a:blip>
            <a:srcRect b="2299" l="0" r="0" t="2308"/>
            <a:stretch/>
          </p:blipFill>
          <p:spPr>
            <a:xfrm>
              <a:off x="0" y="0"/>
              <a:ext cx="3905400" cy="2095500"/>
            </a:xfrm>
            <a:prstGeom prst="roundRect">
              <a:avLst>
                <a:gd fmla="val 5454" name="adj"/>
              </a:avLst>
            </a:prstGeom>
            <a:noFill/>
            <a:ln>
              <a:noFill/>
            </a:ln>
          </p:spPr>
        </p:pic>
        <p:sp>
          <p:nvSpPr>
            <p:cNvPr id="202" name="Google Shape;202;p19"/>
            <p:cNvSpPr txBox="1"/>
            <p:nvPr/>
          </p:nvSpPr>
          <p:spPr>
            <a:xfrm>
              <a:off x="190500" y="2238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Customer Experience</a:t>
              </a:r>
              <a:endParaRPr b="1" sz="7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Dynamic Ordering SPA</a:t>
              </a:r>
              <a:endParaRPr b="1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Single-page interface with instant cart updates and secure checkout summary.</a:t>
              </a:r>
              <a:endParaRPr b="0" sz="7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4667250" y="1428750"/>
            <a:ext cx="3905400" cy="2952900"/>
            <a:chOff x="0" y="0"/>
            <a:chExt cx="3905400" cy="2952900"/>
          </a:xfrm>
        </p:grpSpPr>
        <p:pic>
          <p:nvPicPr>
            <p:cNvPr id="204" name="Google Shape;20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905400" cy="29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9" title="Screenshot from 2026-05-23 17-30-44.png"/>
            <p:cNvPicPr preferRelativeResize="0"/>
            <p:nvPr/>
          </p:nvPicPr>
          <p:blipFill rotWithShape="1">
            <a:blip r:embed="rId5">
              <a:alphaModFix/>
            </a:blip>
            <a:srcRect b="2299" l="0" r="0" t="2308"/>
            <a:stretch/>
          </p:blipFill>
          <p:spPr>
            <a:xfrm>
              <a:off x="0" y="0"/>
              <a:ext cx="3905400" cy="2095500"/>
            </a:xfrm>
            <a:prstGeom prst="roundRect">
              <a:avLst>
                <a:gd fmla="val 5454" name="adj"/>
              </a:avLst>
            </a:prstGeom>
            <a:noFill/>
            <a:ln>
              <a:noFill/>
            </a:ln>
          </p:spPr>
        </p:pic>
        <p:sp>
          <p:nvSpPr>
            <p:cNvPr id="206" name="Google Shape;206;p19"/>
            <p:cNvSpPr txBox="1"/>
            <p:nvPr/>
          </p:nvSpPr>
          <p:spPr>
            <a:xfrm>
              <a:off x="190500" y="2238375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Admin Control</a:t>
              </a:r>
              <a:endParaRPr b="1" sz="7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8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Operational Dashboard</a:t>
              </a:r>
              <a:endParaRPr b="1" sz="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Real-time fulfillment tracking (Pending ➔ Preparing ➔ Delivered) and CRUD menu management.</a:t>
              </a:r>
              <a:endParaRPr b="0" sz="7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7" name="Google Shape;207;p19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Software Testing Strategy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571500" y="1428750"/>
            <a:ext cx="8001000" cy="476400"/>
            <a:chOff x="571500" y="1428750"/>
            <a:chExt cx="8001000" cy="476400"/>
          </a:xfrm>
        </p:grpSpPr>
        <p:sp>
          <p:nvSpPr>
            <p:cNvPr id="215" name="Google Shape;215;p20"/>
            <p:cNvSpPr/>
            <p:nvPr/>
          </p:nvSpPr>
          <p:spPr>
            <a:xfrm>
              <a:off x="571500" y="1428750"/>
              <a:ext cx="2095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571500" y="1428750"/>
              <a:ext cx="209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Testing Methodology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667000" y="1428750"/>
              <a:ext cx="5905500" cy="4764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2667000" y="1428750"/>
              <a:ext cx="590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Execution Details &amp; Verification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571500" y="1905000"/>
            <a:ext cx="8001000" cy="809700"/>
            <a:chOff x="571500" y="1905000"/>
            <a:chExt cx="8001000" cy="809700"/>
          </a:xfrm>
        </p:grpSpPr>
        <p:sp>
          <p:nvSpPr>
            <p:cNvPr id="220" name="Google Shape;220;p20"/>
            <p:cNvSpPr/>
            <p:nvPr/>
          </p:nvSpPr>
          <p:spPr>
            <a:xfrm>
              <a:off x="571500" y="1905000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571500" y="1905000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Unit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2667000" y="190500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2667000" y="190500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Validating JWT middleware parsing.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Verifying that back-end utility functions and Express middlewares reject invalid tokens while correctly passing valid requests to controllers.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571500" y="2714625"/>
            <a:ext cx="8001000" cy="809700"/>
            <a:chOff x="571500" y="2714625"/>
            <a:chExt cx="8001000" cy="809700"/>
          </a:xfrm>
        </p:grpSpPr>
        <p:sp>
          <p:nvSpPr>
            <p:cNvPr id="225" name="Google Shape;225;p20"/>
            <p:cNvSpPr/>
            <p:nvPr/>
          </p:nvSpPr>
          <p:spPr>
            <a:xfrm>
              <a:off x="571500" y="2714625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571500" y="2714625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White Box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2667000" y="2714625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2667000" y="2714625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Executing automated Postman routes to test API edge cases independently.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Simulating internal data flow by sending raw POST/GET/PUT/DELETE requests to verify price validation, MongoDB insertions, and Redis caching algorithms.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571500" y="3524250"/>
            <a:ext cx="8001000" cy="809700"/>
            <a:chOff x="571500" y="3524250"/>
            <a:chExt cx="8001000" cy="809700"/>
          </a:xfrm>
        </p:grpSpPr>
        <p:sp>
          <p:nvSpPr>
            <p:cNvPr id="230" name="Google Shape;230;p20"/>
            <p:cNvSpPr/>
            <p:nvPr/>
          </p:nvSpPr>
          <p:spPr>
            <a:xfrm>
              <a:off x="571500" y="3524250"/>
              <a:ext cx="2095500" cy="809700"/>
            </a:xfrm>
            <a:prstGeom prst="rect">
              <a:avLst/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571500" y="3524250"/>
              <a:ext cx="209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Black Box Testing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667000" y="352425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2667000" y="3524250"/>
              <a:ext cx="5905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Simulating end-to-end integration workflows directly via the browser interface.</a:t>
              </a: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 Manual verification of critical scenarios like user authentication, cart persistency, and the full checkout lifecycle with automated email triggers.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4" name="Google Shape;234;p20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571500" y="1095375"/>
            <a:ext cx="1143000" cy="381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428625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Future Scope &amp; Conclusion</a:t>
            </a:r>
            <a:endParaRPr b="0"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241" name="Google Shape;241;p21"/>
          <p:cNvGrpSpPr/>
          <p:nvPr/>
        </p:nvGrpSpPr>
        <p:grpSpPr>
          <a:xfrm>
            <a:off x="571500" y="1524000"/>
            <a:ext cx="4095900" cy="2857500"/>
            <a:chOff x="571500" y="1524000"/>
            <a:chExt cx="4095900" cy="2857500"/>
          </a:xfrm>
        </p:grpSpPr>
        <p:sp>
          <p:nvSpPr>
            <p:cNvPr id="242" name="Google Shape;242;p21"/>
            <p:cNvSpPr/>
            <p:nvPr/>
          </p:nvSpPr>
          <p:spPr>
            <a:xfrm>
              <a:off x="571500" y="1524000"/>
              <a:ext cx="4095900" cy="2857500"/>
            </a:xfrm>
            <a:prstGeom prst="roundRect">
              <a:avLst>
                <a:gd fmla="val 2666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76200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Future Architecture Expansions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Secure Payment Gateway Integration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Stripe, Razorpay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Real-time Tracking via WebSockets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Socket.io integration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AI-Driven Recommendations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Personalized food suggestions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Native Mobile Application</a:t>
              </a:r>
              <a:br>
                <a:rPr b="0" lang="en-GB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0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React Native / Flutter expansion</a:t>
              </a:r>
              <a:endParaRPr b="0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4857750" y="1524000"/>
            <a:ext cx="3714900" cy="2857500"/>
            <a:chOff x="4857750" y="1524000"/>
            <a:chExt cx="3714900" cy="2857500"/>
          </a:xfrm>
        </p:grpSpPr>
        <p:sp>
          <p:nvSpPr>
            <p:cNvPr id="245" name="Google Shape;245;p21"/>
            <p:cNvSpPr/>
            <p:nvPr/>
          </p:nvSpPr>
          <p:spPr>
            <a:xfrm>
              <a:off x="4857750" y="1524000"/>
              <a:ext cx="3714900" cy="2857500"/>
            </a:xfrm>
            <a:prstGeom prst="roundRect">
              <a:avLst>
                <a:gd fmla="val 2666" name="adj"/>
              </a:avLst>
            </a:prstGeom>
            <a:solidFill>
              <a:srgbClr val="2D2D2D"/>
            </a:solidFill>
            <a:ln cap="flat" cmpd="sng" w="95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5048250" y="1714500"/>
              <a:ext cx="3333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600"/>
                  </a:solidFill>
                  <a:latin typeface="Roboto"/>
                  <a:ea typeface="Roboto"/>
                  <a:cs typeface="Roboto"/>
                  <a:sym typeface="Roboto"/>
                </a:rPr>
                <a:t>Conclusion</a:t>
              </a:r>
              <a:endParaRPr b="1" sz="1400">
                <a:solidFill>
                  <a:srgbClr val="FFD6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The "Satyanaam-Food" platform successfully bridges the gap between culinary providers and clientele through a robust, scalable MERN-style architecture.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By implementing Redis caching and JWT authentication, the system achieves sub-50ms latency and stateless session security.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BDBDBD"/>
                  </a:solidFill>
                  <a:latin typeface="Roboto"/>
                  <a:ea typeface="Roboto"/>
                  <a:cs typeface="Roboto"/>
                  <a:sym typeface="Roboto"/>
                </a:rPr>
                <a:t>Ultimately, it provides a commission-free, tailored digital ordering ecosystem for independent restaurants.</a:t>
              </a:r>
              <a:endParaRPr b="0" sz="1100">
                <a:solidFill>
                  <a:srgbClr val="BDBD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7" name="Google Shape;247;p21"/>
          <p:cNvSpPr/>
          <p:nvPr/>
        </p:nvSpPr>
        <p:spPr>
          <a:xfrm>
            <a:off x="0" y="5048250"/>
            <a:ext cx="9144000" cy="95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